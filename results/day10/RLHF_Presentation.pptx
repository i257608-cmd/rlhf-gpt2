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Reinforcement Learning from Human Feedback on GPT-2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0C4FF"/>
                </a:solidFill>
                <a:latin typeface="Calibri"/>
              </a:rPr>
              <a:t>A Comparative Study of PPO, DPO, and KL-Penalty 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337560"/>
            <a:ext cx="8229600" cy="381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Muhammad Haseeb   |   Muavia Shakeel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D8F8"/>
                </a:solidFill>
                <a:latin typeface="Calibri"/>
              </a:rPr>
              <a:t>Department of Computer Science
FAST National University of Computer and Emerging Sciences, Islamabad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AACC"/>
                </a:solidFill>
                <a:latin typeface="Calibri"/>
              </a:rPr>
              <a:t>Masters in AI  |  Semester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Why RLHF? The alignment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190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1907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Three Research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190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C1: PPO Pipeline  •  C2: PPO vs DPO  •  C3: KL Stability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9424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494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4942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942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SFT → Reward Model → PPO / DPO →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9776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797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797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Reward Model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7977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85.5% accuracy proxy reward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0128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10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1012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C1 Results: PPO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1012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Per-seed reward improvement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4048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C2 Results: PPO vs DPO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4048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Reward efficiency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70832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7083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37083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C3 Results: Stability Sweep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7083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Hacking onset &amp; optimal 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01184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01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90118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Alignment Tax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0118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Perplexity trade-off curves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31536"/>
            <a:ext cx="411480" cy="384048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43153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43153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B"/>
                </a:solidFill>
                <a:latin typeface="Calibri"/>
              </a:rPr>
              <a:t>Key Findings &amp; 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43153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Calibri"/>
              </a:rPr>
              <a:t>Recommendations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The alignment problem in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The Alignment Problem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LLMs trained on next-token prediction produce fluent but misaligned text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GPT-2 may generate harmful, biased, or off-topic content by default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RLHF: Solution Approach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Train a reward model from human preference labels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Fine-tune the LM policy to maximise the reward signal (PPO)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Key Challenge: Reward Hacking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Over-optimising a proxy reward diverges from true human preferences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KL divergence penalty required to prevent policy collapse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Research Questions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Can PPO reliably improve GPT-2 alignment at small scale?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Does PPO outperform DPO in reward efficiency?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What KL threshold separates stable training from reward hacking?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Methodology: RLHF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GPT-2 (124M) + IMDB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256032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
SFT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Supervised Fine-Tuning
IMDB reviews
128-token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83464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7D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828800"/>
            <a:ext cx="2011680" cy="256032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
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Reward Model
85.5% acc.
GPT-2 + classifier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83464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7D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2011680" cy="256032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3a
PPO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PPO Training
β∈{0.05–0.50}
200 steps × 3 seeds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83464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7D0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828800"/>
            <a:ext cx="2011680" cy="2560320"/>
          </a:xfrm>
          <a:prstGeom prst="rect">
            <a:avLst/>
          </a:prstGeom>
          <a:solidFill>
            <a:srgbClr val="5A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3b
DPO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DPO Training
Preference pairs
β=0.10 × 3 seeds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834640"/>
            <a:ext cx="237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7D0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828800"/>
            <a:ext cx="2011680" cy="25603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
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Evaluation
Reward · PPO · KL
Alignment tax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709160"/>
            <a:ext cx="5760720" cy="7315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76B"/>
                </a:solidFill>
                <a:latin typeface="Calibri"/>
              </a:rPr>
              <a:t>Dataset: IMDB (50k reviews)  |  Model: GPT-2 124M  |  Framework: HuggingFace TRL 0.24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Reward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GPT-2 + Classification Head — 3 Epochs on IMDB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20116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85.5%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Evaluation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201168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0.356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Evaluation 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560320" cy="201168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Training Epochs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2560320" cy="201168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GPT-2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Base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376B"/>
                </a:solidFill>
                <a:latin typeface="Calibri"/>
              </a:rPr>
              <a:t>The reward model reliably distinguishes positive from negative IMDB reviews. Frozen at 85.5% accuracy, it serves as a stable proxy reward signal for all downstream PPO and DPO training runs.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C1: PPO Training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β = 0.20 · 200 Steps · 3 Seeds · No Reward Hacking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713231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902"/>
                <a:gridCol w="1018902"/>
                <a:gridCol w="1018902"/>
                <a:gridCol w="1018902"/>
                <a:gridCol w="1018902"/>
                <a:gridCol w="1018902"/>
                <a:gridCol w="101890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Before (SFT)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After (PPO)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KL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Seed 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3.578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5.648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+2.070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+57.9%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14.23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✓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Seed 123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3.301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4.753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+1.451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+44.0%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14.62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✓ Stable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Seed 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3.222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5.457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+2.235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14.62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✓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rewar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88720"/>
            <a:ext cx="420624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4343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Fig. 1 — Reward learning curve (seed=42)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7132320" cy="11887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B"/>
                </a:solidFill>
                <a:latin typeface="Calibri"/>
              </a:rPr>
              <a:t>Training Reward:  3.367  →  5.286  (Δ = +1.919, +57.1%)     |     Post-train Eval Alignment Tax: +18.3% PPL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6060"/>
                </a:solidFill>
                <a:latin typeface="Calibri"/>
              </a:rPr>
              <a:t>No reward collapse detected across any seed. All max KL values &lt; 15.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C2: PPO vs. DPO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Mean over 3 Seeds | Same Base Model &amp; Reward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7132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Reward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Perplexity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Alignment Tax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Efficiency (R/PPL%)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SFT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2.498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1.785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37.79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PPO  (β=0.20)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4.942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44.69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+18.2%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0.1339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DPO  (β=0.10)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1.158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54.39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+43.9%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0.0528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ppl_vs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88720"/>
            <a:ext cx="42976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4434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Fig. 2 — Perplexity vs. Reward per 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71323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7A3C"/>
                </a:solidFill>
                <a:latin typeface="Calibri"/>
              </a:rPr>
              <a:t>Key Finding:  PPO is 2.5× more reward-efficient than DPO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376B"/>
                </a:solidFill>
                <a:latin typeface="Calibri"/>
              </a:rPr>
              <a:t>PPO tax: +18.2%  vs.  DPO tax: +43.9%  |  PPO achieves ≈ same reward (4.942 vs 4.816) with much less perplexity increase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C3: KL-Penalty Stability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β ∈ {0.05, 0.10, 0.20, 0.50} × 3 seeds = 12 runs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676655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651"/>
                <a:gridCol w="966651"/>
                <a:gridCol w="966651"/>
                <a:gridCol w="966651"/>
                <a:gridCol w="966651"/>
                <a:gridCol w="966651"/>
                <a:gridCol w="966651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Reward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±Std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KL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KL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Collapse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A37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9.449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±1.265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67.21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⚠ HACKING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6.009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±0.428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17.69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24.29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⚠ HACKING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5.286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±0.471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9.58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14.62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✓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4.208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±0.287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4.52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8.11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0/3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✓ Stable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06640" y="1280160"/>
            <a:ext cx="4389120" cy="2011680"/>
          </a:xfrm>
          <a:prstGeom prst="rect">
            <a:avLst/>
          </a:prstGeom>
          <a:solidFill>
            <a:srgbClr val="D6E4F7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80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B"/>
                </a:solidFill>
                <a:latin typeface="Calibri"/>
              </a:rPr>
              <a:t>Phase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7373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0000"/>
                </a:solidFill>
                <a:latin typeface="Calibri"/>
              </a:rPr>
              <a:t>β = 0.05 → COLLAPSE  (KL ≈ 43–67)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3969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0000"/>
                </a:solidFill>
                <a:latin typeface="Calibri"/>
              </a:rPr>
              <a:t>β = 0.10 → COLLAPSE  (KL ≈ 23–24)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4203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  <a:latin typeface="Calibri"/>
              </a:rPr>
              <a:t>β = 0.20 → STABLE ★  (KL ≈ 14.2–14.6)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94436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A3C"/>
                </a:solidFill>
                <a:latin typeface="Calibri"/>
              </a:rPr>
              <a:t>β = 0.50 → STABLE     (KL ≈ 7.5–8.1)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11430000" cy="914400"/>
          </a:xfrm>
          <a:prstGeom prst="rect">
            <a:avLst/>
          </a:prstGeom>
          <a:solidFill>
            <a:srgbClr val="FFF0D0"/>
          </a:solidFill>
          <a:ln w="19050">
            <a:solidFill>
              <a:srgbClr val="F0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B"/>
                </a:solidFill>
                <a:latin typeface="Calibri"/>
              </a:rPr>
              <a:t>Reward Hacking Onset: Mean KL ≥ 17.7  |  Safety Margin at β=0.20: 8.1 KL units  |  Optimal β: 0.20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C3: Stability Sweep — Visualisations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Gao et al. (2023) — proxy reward vs KL divergence</a:t>
            </a:r>
          </a:p>
        </p:txBody>
      </p:sp>
      <p:pic>
        <p:nvPicPr>
          <p:cNvPr id="7" name="Picture 6" descr="reward_vs_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349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Fig. 3 — Reward vs. KL per β (scatter)</a:t>
            </a:r>
          </a:p>
        </p:txBody>
      </p:sp>
      <p:pic>
        <p:nvPicPr>
          <p:cNvPr id="9" name="Picture 8" descr="beta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349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Fig. 4 — Mean reward &amp; KL per β (bar summary)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Alignment Tax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Perplexity cost of reward alignment — PPO vs DPO</a:t>
            </a:r>
          </a:p>
        </p:txBody>
      </p:sp>
      <p:pic>
        <p:nvPicPr>
          <p:cNvPr id="7" name="Picture 6" descr="tax_per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754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Fig. 5 — Alignment tax per β (PPO)</a:t>
            </a:r>
          </a:p>
        </p:txBody>
      </p:sp>
      <p:pic>
        <p:nvPicPr>
          <p:cNvPr id="9" name="Picture 8" descr="optimal_k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4754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Fig. 6 — Optimal KL stopping point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212080"/>
            <a:ext cx="11612880" cy="822960"/>
          </a:xfrm>
          <a:prstGeom prst="rect">
            <a:avLst/>
          </a:prstGeom>
          <a:solidFill>
            <a:srgbClr val="D6E4F7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2578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B"/>
                </a:solidFill>
                <a:latin typeface="Calibri"/>
              </a:rPr>
              <a:t>PPO Tax: +18.2%  |  DPO Tax: +43.9%  |  Optimal Stopping KL: 9.58  |  Collapse Onset KL: 17.69  |  Safety Margin: 8.11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Three empirical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41732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C1 — PPO Reliably Aligns GPT-2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Mean reward: 1.125 → 5.100  (+3.975, +18.3% PPL)  |  Zero reward collapse across all seeds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11430000" cy="14173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C2 — PPO Beats DPO in Reward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PPO efficiency: 0.1339  vs.  DPO: 0.0528  |  2.5× advantage  |  PPO's KL constraint provides tighter distribution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89120"/>
            <a:ext cx="11430000" cy="141732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C3 — β = 0.20 is the Optimal KL-Penalty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Hacking onset: KL ≥ 17.7  |  Safety margin: 8.1 units at β=0.20  |  Consistent with Gao et al. (2023) scaling laws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0D8F8"/>
                </a:solidFill>
                <a:latin typeface="Calibri"/>
              </a:rPr>
              <a:t>Reproducible RLHF pipeline for GPT-2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Complete PPO-RLHF pipeline on GPT-2/IMDB — all code open-sourced on GitHub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Mean reward improvement: +3.98 pts (+18.3% PPL) — stable across 3 seeds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PPO outperforms DPO at this scale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2.5× higher reward-per-perplexity efficiency; lower alignment tax (+18.2% vs +43.9%)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Practical recommendation: use β = 0.20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Early-stop rule: halt PPO if mean KL &gt; 17.7 (collapse onset threshold)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Safety margin: 8.1 KL units at β=0.20 before hacking onset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alibri"/>
              </a:rPr>
              <a:t>▸  Future Work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Scale to GPT-2 Medium/Large; true human preference labels; longer training</a:t>
            </a:r>
          </a:p>
          <a:p>
            <a:pPr algn="l"/>
            <a:r>
              <a:rPr sz="1400">
                <a:solidFill>
                  <a:srgbClr val="606060"/>
                </a:solidFill>
                <a:latin typeface="Calibri"/>
              </a:rPr>
              <a:t>     ◦  Explore GRPO, REINFORCE++, and other RLHF variants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623560"/>
            <a:ext cx="11430000" cy="64008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Recommended Config:  model=gpt2  |  β=0.20  |  steps=200  |  early_stop_kl=18  |  seeds=[42,123,456]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[1] P. Christiano et al., "Deep RL from human preferences," NeurIPS 2017.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[2] L. Ouyang et al., "Training language models to follow instructions with RLHF (InstructGPT)," NeurIPS 2022.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[3] L. Gao et al., "Scaling laws for reward model overoptimisation," ICML 2023.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[4] R. Rafailov et al., "Direct Preference Optimisation (DPO)," NeurIPS 2023.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[5] Y. Bai et al., "Training a helpful and harmless assistant with RLHF," arXiv:2204.05862, 2022.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[6] A. Radford et al., "Language models are unsupervised multitask learners (GPT-2)," OpenAI Blog, 2019.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[7] A. L. Maas et al., "Learning word vectors for sentiment analysis (IMDB)," ACL 2011.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[8] L. von Werra et al., "TRL: Transformer Reinforcement Learning," HuggingFace, 2022.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Calibri"/>
              </a:rPr>
              <a:t>[9] J. Schulman et al., "Proximal Policy Optimization Algorithms," arXiv:1707.06347,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6060"/>
                </a:solidFill>
                <a:latin typeface="Calibri"/>
              </a:rPr>
              <a:t>Muhammad Haseeb  |  Muavia Shakeel  |  FAST University Islamabad  |  Masters in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 National University | Islamabad | RLHF on GPT-2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