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64240" cy="3840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" cy="3840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9A84C"/>
                </a:solidFill>
              </a:rPr>
              <a:t>Masters in Artificial Intelligence  •  Reinforcement Learning  •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RLHF for Language Model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ECF0F1"/>
                </a:solidFill>
              </a:rPr>
              <a:t>Reproducible GPT-2 Fine-Tuning with PPO,
Comparative Analysis &amp; Stability Benchmarking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160520"/>
            <a:ext cx="94183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793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3 Main Contributions:   C1 — Reproducible Pipeline     C2 — PPO vs DPO     C3 — Stability Benchmarking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5A5A6"/>
                </a:solidFill>
              </a:rPr>
              <a:t>[Student Name]  |  [University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Motivation: Why RLHF?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78407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>
                <a:solidFill>
                  <a:srgbClr val="2C3E50"/>
                </a:solidFill>
              </a:rPr>
              <a:t>•  LLMs trained on raw internet text produce harmful, incorrect, or misaligned outputs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C3E50"/>
                </a:solidFill>
              </a:rPr>
              <a:t>•  RLHF is the alignment paradigm behind ChatGPT, Claude, and Gemini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C3E50"/>
                </a:solidFill>
              </a:rPr>
              <a:t>•  InstructGPT (Ouyang et al., 2022): a 1.3B RLHF model outperforms GPT-3 175B on human preference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C3E50"/>
                </a:solidFill>
              </a:rPr>
              <a:t>•  Core shift: reward human preferences, not just next-token prediction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C3E50"/>
                </a:solidFill>
              </a:rPr>
              <a:t>•  Challenge: most RLHF implementations require proprietary large-scale infrastructure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C3E50"/>
                </a:solidFill>
              </a:rPr>
              <a:t>•  This project: reproduce the full RLHF loop at GPT-2 scale — open, transparent, and academically rigorous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978407"/>
            <a:ext cx="3931920" cy="173736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978407"/>
            <a:ext cx="54864" cy="1737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088136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"A 1.3B RLHF model is preferred
over a 175B GPT-3 model by
human evaluators."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4414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5A5A6"/>
                </a:solidFill>
              </a:rPr>
              <a:t>— Ouyang et al., 2022 (InstructGPT)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990088"/>
            <a:ext cx="3931920" cy="237744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990088"/>
            <a:ext cx="54864" cy="2377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3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4A"/>
                </a:solidFill>
              </a:rPr>
              <a:t>3-Stage RLHF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49300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Stage 1  —  Supervised Fine-Tuning (SFT)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04164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Stage 2  —  Reward Model Training (RM)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59028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Stage 3  —  PPO Policy Optimisation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Problem Statement &amp;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96695"/>
            <a:ext cx="1133856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996695"/>
            <a:ext cx="54864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424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25295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Most RLHF research operates at scales inaccessible to academic settings. No compact, reproducible baseline exists comparing PPO vs. DPO at GPT-2 scale, nor measuring the practical Alignment Tax in an open, repeatable setting.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93976"/>
            <a:ext cx="1133856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093976"/>
            <a:ext cx="54864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14016"/>
            <a:ext cx="64008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432304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76856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How does RLHF with PPO improve GPT-2 alignment on a sentiment-control task, and what is the measurable improvement in reward score compared to an SFT baseline?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57016"/>
            <a:ext cx="1133856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557016"/>
            <a:ext cx="54864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877056"/>
            <a:ext cx="64008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895344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39896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Does Direct Preference Optimisation (DPO) achieve comparable alignment to PPO on the same task at lower computational cost, and what are the quantitative trade-offs?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20056"/>
            <a:ext cx="1133856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020056"/>
            <a:ext cx="54864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340096"/>
            <a:ext cx="64008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358384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202936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What is the empirical Alignment Tax at GPT-2 scale — how much general language modelling capability is lost, and at what KL divergence does reward hacking onset occur?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0149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Stiennon et al. (2020)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39903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Introduced the RLHF 3-stage NLP pipeline; canonical foundation.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960120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960120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0149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Ouyang et al. (2022)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39903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InstructGPT: RLHF for instruction following; basis of ChatGPT.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039112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039112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0939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Christiano et al. (2017)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47802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Deep RL from human preferences; seminal RLHF framework.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039112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039112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0939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Schulman et al. (2017)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47802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PPO algorithm: clipped-objective actor-critic used in our training.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18104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118104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172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Gao et al. (2023)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55701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Reward model overoptimisation: scaling laws motivate KL control.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118104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118104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3172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Zheng et al. (2023)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355701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Secrets of RLHF: open-source PPO stability insights at GPT scale.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197096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197096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25195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Rafailov et al. (2023)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463600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DPO: eliminates RL loop; baseline algorithm compared in C2.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197096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197096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425195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Bai et al. (2022)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463600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Helpful &amp; Harmless dataset; Constitutional AI RLHF at scale.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276088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276088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533095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Brown et al. (2020)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571500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GPT-3 few-shot learning; provides scaling context for our work.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276088"/>
            <a:ext cx="562356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5276088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533095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Wang et al. (2024)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8232" y="571500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Comprehensive survey: RLHF, RLAIF, PPO, DPO and extensions.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 1 — Reproducible GPT-2 RLHF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9669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C1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9304"/>
            <a:ext cx="2971800" cy="1828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44167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Stage 1
SFT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20824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Fine-tune GPT-2 on
positive IMDB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7393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289304"/>
            <a:ext cx="2971800" cy="1828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344167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Stage 2
Reward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020824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GPT-2 classifier:
positive vs negative
sentiment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177393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289304"/>
            <a:ext cx="2971800" cy="1828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344167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Stage 3
PPO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020824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TRL PPOTrainer:
KL-regularised policy
optimisation (beta=0.2)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28415"/>
            <a:ext cx="11338560" cy="16459"/>
          </a:xfrm>
          <a:prstGeom prst="rect">
            <a:avLst/>
          </a:prstGeom>
          <a:solidFill>
            <a:srgbClr val="D5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19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39896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Mean reward score before vs. after PPO (200 training steps)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Reward learning curve and KL divergence trajectory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Perplexity comparison: SFT baseline vs. PPO-aligned model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Qualitative prompt-response pairs (&gt;10 examples)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Interactive CLI demo for live inference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419856"/>
            <a:ext cx="5120640" cy="297180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483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EXPECTED OUTPUT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7398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C3E50"/>
                </a:solidFill>
              </a:rPr>
              <a:t>Prompt:  "This movie was..."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4151376"/>
            <a:ext cx="4846320" cy="594360"/>
          </a:xfrm>
          <a:prstGeom prst="rect">
            <a:avLst/>
          </a:prstGeom>
          <a:solidFill>
            <a:srgbClr val="F9EBEB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12280" y="4151376"/>
            <a:ext cx="54864" cy="594360"/>
          </a:xfrm>
          <a:prstGeom prst="rect">
            <a:avLst/>
          </a:prstGeom>
          <a:solidFill>
            <a:srgbClr val="A9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197096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Before PPO (SFT):   reward ≈ −0.8
"...slow, tedious, and entirely forgettable."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4837176"/>
            <a:ext cx="4846320" cy="594360"/>
          </a:xfrm>
          <a:prstGeom prst="rect">
            <a:avLst/>
          </a:prstGeom>
          <a:solidFill>
            <a:srgbClr val="EAF6EC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4837176"/>
            <a:ext cx="54864" cy="594360"/>
          </a:xfrm>
          <a:prstGeom prst="rect">
            <a:avLst/>
          </a:prstGeom>
          <a:solidFill>
            <a:srgbClr val="1A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882896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After PPO (aligned):   reward ≈ +2.1
"...a masterpiece. Absolutely brilliant storytelling!"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5686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980B9"/>
                </a:solidFill>
              </a:rPr>
              <a:t>Reward improvement:  +163%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 2 — PPO vs. DPO Comparative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9669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C2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5A5A6"/>
                </a:solidFill>
              </a:rPr>
              <a:t>Head-to-head comparison: identical dataset (IMDB), base model (GPT-2), hardware, and evaluation protocol.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09928"/>
            <a:ext cx="11338560" cy="16459"/>
          </a:xfrm>
          <a:prstGeom prst="rect">
            <a:avLst/>
          </a:prstGeom>
          <a:solidFill>
            <a:srgbClr val="D5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65376"/>
          <a:ext cx="108813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60520"/>
                <a:gridCol w="416052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PPO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DPO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Pipeline stages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3  (SFT  →  RM  →  PPO)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2  (SFT  →  DPO)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Reward model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Separate RM required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No RM needed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Training mode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Online (generates new samples)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Offline (preference pairs)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KL regularisation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Explicit beta coefficient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Closed-form via B–T model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Expected speed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Baseline (reference)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~10x faster (Rafailov 2023)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Expected reward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Higher peak reward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Within 5% of PPO peak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Collapse rate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~20% across seeds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~2% across seeds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14416"/>
            <a:ext cx="1133856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14416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660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METRICS MEASURED FOR BOTH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8887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Mean reward score (mean ± std)  •  Perplexity on held-out reviews  •  Wall-clock training time  •  Collapse rate (3 seeds)  •  Qualitative response quality (10 prompts)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 3 — Stability Benchmarking &amp; Alignment 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9669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C3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Alignment Tax: the increase in perplexity (degradation of general language modelling ability) caused by RLHF fine-tuning. Measured across KL coefficient values and training seeds.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37943"/>
            <a:ext cx="11338560" cy="16459"/>
          </a:xfrm>
          <a:prstGeom prst="rect">
            <a:avLst/>
          </a:prstGeom>
          <a:solidFill>
            <a:srgbClr val="D5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956815"/>
          <a:ext cx="10881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94560"/>
                <a:gridCol w="1920240"/>
                <a:gridCol w="2103120"/>
                <a:gridCol w="219456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KL Coefficient (beta)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Training Stability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Reward Gain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Alignment Tax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Expected Collapse Rate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~40%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~15%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0.20  (default)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&lt; 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Limited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Very Low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&lt; 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922776"/>
            <a:ext cx="11338560" cy="16459"/>
          </a:xfrm>
          <a:prstGeom prst="rect">
            <a:avLst/>
          </a:prstGeom>
          <a:solidFill>
            <a:srgbClr val="D5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142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MEASUREMENTS  (5 SEEDS PER BETA)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34256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Collapse rate: % of runs with reward hacking onset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KL divergence trajectory: optimal stopping threshold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Perplexity delta: quantified alignment tax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Reward vs. perplexity trade-off curve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Reward normalisation impact (Zheng et al., 2023)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14215"/>
            <a:ext cx="5394960" cy="265176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014215"/>
            <a:ext cx="54864" cy="2651760"/>
          </a:xfrm>
          <a:prstGeom prst="rect">
            <a:avLst/>
          </a:prstGeom>
          <a:solidFill>
            <a:srgbClr val="16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05993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EXPECTED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334256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Stable training window: beta in {0.1, 0.2}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Reward hacking: onset at KL ~10-15 nats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Alignment tax &lt;= 15% perplexity increase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DPO shows lower variance across seeds than PPO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Reward normalisation reduces collapse by ~18%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3474720" cy="265176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4864" cy="2651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014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28016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IMDB Movie Reviews (50,000)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Positive reviews  →  SFT corpus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Pos/neg pairs  →  RM training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Test prefixes  →  PPO/DPO 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60120"/>
            <a:ext cx="3474720" cy="265176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60120"/>
            <a:ext cx="54864" cy="2651760"/>
          </a:xfrm>
          <a:prstGeom prst="rect">
            <a:avLst/>
          </a:prstGeom>
          <a:solidFill>
            <a:srgbClr val="16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014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MODEL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28016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Base: GPT-2 (124M parameters)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RM: GPT-2 + classification head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Policy: GPT-2 (SFT init)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Reference: frozen SFT (KL target)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Library: HuggingFace TRL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960120"/>
            <a:ext cx="4251960" cy="265176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960120"/>
            <a:ext cx="54864" cy="2651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1014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HYPERPARAMETERS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1280160"/>
            <a:ext cx="4023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PPO LR: 1.41e-5  |  DPO LR: 1e-5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PPO batch: 16  |  DPO batch: 32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PPO steps: 200  |  DPO epochs: 3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Max gen. tokens: 32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KL beta (PPO): 0.2  (swept: 0.05-0.5)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C3E50"/>
                </a:solidFill>
              </a:rPr>
              <a:t>•  Seeds per config: 3-5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67328"/>
            <a:ext cx="11750040" cy="16459"/>
          </a:xfrm>
          <a:prstGeom prst="rect">
            <a:avLst/>
          </a:prstGeom>
          <a:solidFill>
            <a:srgbClr val="D5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EVALUATION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160520"/>
            <a:ext cx="365760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160520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336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Mean Reward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6634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Primary alignment quality measure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160520"/>
            <a:ext cx="365760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160520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2336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Reward Std Deviation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6634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Stability across seeds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4160520"/>
            <a:ext cx="365760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4160520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2336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KL Divergence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6634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Policy drift from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257800"/>
            <a:ext cx="365760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257800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33095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Perplexity (PPL)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760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Alignment tax indicator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5257800"/>
            <a:ext cx="365760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5257800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533095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Collapse Rate (%)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5760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Reward hacking incidence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19" y="5257800"/>
            <a:ext cx="365760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19" y="5257800"/>
            <a:ext cx="54864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533095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E4A"/>
                </a:solidFill>
              </a:rPr>
              <a:t>Wall-clock Training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5760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Computational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10-Day 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96695"/>
            <a:ext cx="2212848" cy="7498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04241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3807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C1: SFT + RM + PPO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46503"/>
            <a:ext cx="2212848" cy="498348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746503"/>
            <a:ext cx="36576" cy="4983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11095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Install TRL stack &amp; prepare IMDB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254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Fine-tune SFT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398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Train Reward Model (GPT-2 classifier)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542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Run 200 PPO training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686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Log reward curve &amp; KL trajectory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996695"/>
            <a:ext cx="2212848" cy="7498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04241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Days 3–4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3807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C2: DPO Comparison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1746503"/>
            <a:ext cx="2212848" cy="498348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1746503"/>
            <a:ext cx="36576" cy="4983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1911095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Implement DPO training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8254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Run on identical IMDB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398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Head-to-head evaluation protocol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542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Compare reward &amp; perplexity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5686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Wall-clock training time benchmark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996695"/>
            <a:ext cx="2212848" cy="749808"/>
          </a:xfrm>
          <a:prstGeom prst="rect">
            <a:avLst/>
          </a:prstGeom>
          <a:solidFill>
            <a:srgbClr val="16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104241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Days 5–6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13807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C3: Stability Benchmark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1746503"/>
            <a:ext cx="2212848" cy="498348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0" y="1746503"/>
            <a:ext cx="36576" cy="4983480"/>
          </a:xfrm>
          <a:prstGeom prst="rect">
            <a:avLst/>
          </a:prstGeom>
          <a:solidFill>
            <a:srgbClr val="16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1911095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5-seed repeatability runs (PPO &amp; DPO)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8254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Sweep beta in {0.05, 0.1, 0.2, 0.5}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7398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Measure collapse rate per config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6542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KL divergence trajectory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55686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Alignment tax perplexity curve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996695"/>
            <a:ext cx="2212848" cy="7498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104241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Days 7–8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13807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Analysis &amp; Reporting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1746503"/>
            <a:ext cx="2212848" cy="498348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06640" y="1746503"/>
            <a:ext cx="36576" cy="4983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1911095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Compile all metrics into tables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28254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Generate learning curve 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37398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Draft results &amp; discussion sections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0" y="46542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Qualitative response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55686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Comparison figure (PPO vs DPO)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84080" y="996695"/>
            <a:ext cx="2212848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57232" y="104241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Days 9–10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57232" y="13807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Finalise &amp; Submit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1746503"/>
            <a:ext cx="2212848" cy="498348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84080" y="1746503"/>
            <a:ext cx="36576" cy="4983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1911095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Polish interactive CLI demo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28254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Write README and reproduce guide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37398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Proofread and format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46542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Code review &amp; clean-up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5568696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 Final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9669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QUANTITATIVE TARGETS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316736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  <a:gridCol w="2834640"/>
                <a:gridCol w="283464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C1  PPO Pipeline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C2  DPO vs PPO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C3  Stability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Reward improvement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+40–70% after 200 steps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DPO within 5% of PPO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Measured per beta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Training time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&lt; 2 hrs (single GPU)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DPO ~10x faster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5 seeds x 4 betas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Perplexity increase (PPL)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&lt; 15% (alignment tax)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DPO lower PPL increase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&lt;= 15% at beta=0.2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Collapse 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&lt; 5% with reward norm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DPO ~2%  vs  PPO ~20%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40% at beta=0.05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KL divergence at stability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10–15 nats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Lower KL for DPO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E50"/>
                          </a:solidFill>
                        </a:rPr>
                        <a:t>Threshold identified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4334256"/>
            <a:ext cx="11338560" cy="16459"/>
          </a:xfrm>
          <a:prstGeom prst="rect">
            <a:avLst/>
          </a:prstGeom>
          <a:solidFill>
            <a:srgbClr val="D5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980B9"/>
                </a:solidFill>
              </a:rPr>
              <a:t>QUALITATIVE OUTPUT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700016"/>
            <a:ext cx="5349240" cy="1783080"/>
          </a:xfrm>
          <a:prstGeom prst="rect">
            <a:avLst/>
          </a:prstGeom>
          <a:solidFill>
            <a:srgbClr val="F9EBEB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4700016"/>
            <a:ext cx="54864" cy="1783080"/>
          </a:xfrm>
          <a:prstGeom prst="rect">
            <a:avLst/>
          </a:prstGeom>
          <a:solidFill>
            <a:srgbClr val="A9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4573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93D3D"/>
                </a:solidFill>
              </a:rPr>
              <a:t>Before PPO  (SFT only)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57216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"...slow and tedious. The plot dragged on without purpose. I would not recommend this film."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7161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3D3D"/>
                </a:solidFill>
              </a:rPr>
              <a:t>Reward: −0.82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4700016"/>
            <a:ext cx="5349240" cy="1783080"/>
          </a:xfrm>
          <a:prstGeom prst="rect">
            <a:avLst/>
          </a:prstGeom>
          <a:solidFill>
            <a:srgbClr val="EAF6EC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700016"/>
            <a:ext cx="54864" cy="1783080"/>
          </a:xfrm>
          <a:prstGeom prst="rect">
            <a:avLst/>
          </a:prstGeom>
          <a:solidFill>
            <a:srgbClr val="1A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74573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7A47"/>
                </a:solidFill>
              </a:rPr>
              <a:t>After PPO  (RLHF aligned)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57216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"...a genuine masterpiece of storytelling. The performances are outstanding and the narrative grips you throughout."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607161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7"/>
                </a:solidFill>
              </a:rPr>
              <a:t>Reward: +2.14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Future Work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96695"/>
            <a:ext cx="5577840" cy="512064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996695"/>
            <a:ext cx="54864" cy="5120640"/>
          </a:xfrm>
          <a:prstGeom prst="rect">
            <a:avLst/>
          </a:prstGeom>
          <a:solidFill>
            <a:srgbClr val="16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88136"/>
            <a:ext cx="658368" cy="384048"/>
          </a:xfrm>
          <a:prstGeom prst="rect">
            <a:avLst/>
          </a:prstGeom>
          <a:solidFill>
            <a:srgbClr val="16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097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088136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2E4A"/>
                </a:solidFill>
              </a:rPr>
              <a:t>Human-Likeness Investigation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63624"/>
            <a:ext cx="5349240" cy="16459"/>
          </a:xfrm>
          <a:prstGeom prst="rect">
            <a:avLst/>
          </a:prstGeom>
          <a:solidFill>
            <a:srgbClr val="D5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682495"/>
            <a:ext cx="53492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Inspired by Binz et al. (2025): cognitive model alignment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Dataset: Psych-201 behavioural task battery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Test if PPO-aligned GPT-2 better mimics human
cognitive and decision-making patterns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Metrics: behavioural alignment score, risk aversion
  index, probability weighting function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Hypothesis: RLHF narrows the gap to human
  decision-making profiles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996695"/>
            <a:ext cx="5577840" cy="5120640"/>
          </a:xfrm>
          <a:prstGeom prst="rect">
            <a:avLst/>
          </a:prstGeom>
          <a:solidFill>
            <a:srgbClr val="F8F9FA"/>
          </a:solidFill>
          <a:ln w="9525">
            <a:solidFill>
              <a:srgbClr val="D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996695"/>
            <a:ext cx="54864" cy="5120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088136"/>
            <a:ext cx="65836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097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088136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2E4A"/>
                </a:solidFill>
              </a:rPr>
              <a:t>ADPO: Active Preference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563624"/>
            <a:ext cx="5349240" cy="16459"/>
          </a:xfrm>
          <a:prstGeom prst="rect">
            <a:avLst/>
          </a:prstGeom>
          <a:solidFill>
            <a:srgbClr val="D5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682495"/>
            <a:ext cx="53492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Active DPO: selectively query RM for uncertain pairs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Based on: Liu et al. (2024) active preference framework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Query strategy: uncertainty sampling via reward
  model confidence scores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Goal: reduce annotation cost by 40-60%
  while preserving alignment quality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C3E50"/>
                </a:solidFill>
              </a:rPr>
              <a:t>•  Comparison: ADPO vs full DPO vs random sampling
  at matched label budgets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References  (APA 7.0)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C3E50"/>
                </a:solidFill>
              </a:rPr>
              <a:t>RLHF for Language Model Alignment  |  Masters in AI  | 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33271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33271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[1]  Ziegler et al. (2019). Fine-tuning language models from human preferences. arXiv:1909.08593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45919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19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[2]  Stiennon et al. (2020). Learning to summarize with human feedback. NeurIPS 33, 3008-3021.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58568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5856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[3]  Christiano et al. (2017). Deep RL from human preferences. NeurIPS 30.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71216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712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[4]  Schulman et al. (2017). Proximal policy optimization algorithms. arXiv:1707.06347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83864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83864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[5]  Brown et al. (2020). Language models are few-shot learners. NeurIPS 33, 1877-1901.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096512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9651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[6]  Ouyang et al. (2022). Training LMs to follow instructions (InstructGPT). NeurIPS 35.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709160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091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[7]  Bai et al. (2022). Training a helpful and harmless assistant with RLHF. arXiv:2204.05862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321808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2180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[8]  Gao et al. (2023). Scaling laws for reward model overoptimization. ICML 2023.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934456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93445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[9]  Rafailov et al. (2023). Direct preference optimization (DPO). NeurIPS 36.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033271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033271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[10] Touvron et al. (2023). Llama 2: Open foundation and fine-tuned chat models. arXiv:2307.09288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645919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645919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[11] Zheng et al. (2023). Secrets of RLHF in LLMs Part I: PPO. arXiv:2307.04964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258568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25856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[12] Yuan et al. (2023). RRHF: Rank responses to align LMs with human feedback. NeurIPS 36.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871216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8712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[13] Dong et al. (2023). RAFT: Reward ranked finetuning for generative foundation model alignment. TMLR.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483864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483864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[14] Azar et al. (2024). A general theoretical paradigm to understand learning from human feedback. AISTATS.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096512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9651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[15] Wang et al. (2024). A comprehensive survey of LLM alignment: RLHF, RLAIF, PPO, DPO. arXiv:2407.16216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709160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7091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[16] Binz et al. (2025). Turning large language models into cognitive models. arXiv:2306.03917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321808"/>
            <a:ext cx="36576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32180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[17] Liu et al. (2024). Active direct preference optimization. arXiv:2402.10141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3246120"/>
            <a:ext cx="94457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CF0F1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C1  Reproducible RLHF Pipeline     •     C2  PPO vs DPO Comparison     •     C3  Stability &amp; Alignment Tax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95A5A6"/>
                </a:solidFill>
              </a:rPr>
              <a:t>Future Work:   C4  Human-Likeness Investigation   •   C5  ADPO Active Preference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663440"/>
            <a:ext cx="5788152" cy="1645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[Student Name]  |  Masters in AI  |  [University]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